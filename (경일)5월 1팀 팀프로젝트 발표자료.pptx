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24384000" cy="13716000"/>
  <p:notesSz cx="6858000" cy="9144000"/>
  <p:embeddedFontLst>
    <p:embeddedFont>
      <p:font typeface="Libre Bodoni Regular"/>
      <p:regular r:id="rId52"/>
    </p:embeddedFont>
    <p:embeddedFont>
      <p:font typeface="Pretendard Regular"/>
      <p:regular r:id="rId53"/>
    </p:embeddedFont>
    <p:embeddedFont>
      <p:font typeface="Pretendard Bold"/>
      <p:bold r:id="rId54"/>
    </p:embeddedFont>
    <p:embeddedFont>
      <p:font typeface="Pretendard ExtraLight"/>
      <p:regular r:id="rId55"/>
    </p:embeddedFont>
    <p:embeddedFont>
      <p:font typeface="Pretendard SemiBold"/>
      <p:bold r:id="rId56"/>
    </p:embeddedFont>
    <p:embeddedFont>
      <p:font typeface="Pretendard Light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1.fntdata" Type="http://schemas.openxmlformats.org/officeDocument/2006/relationships/font"/><Relationship Id="rId53" Target="fonts/font2.fntdata" Type="http://schemas.openxmlformats.org/officeDocument/2006/relationships/font"/><Relationship Id="rId54" Target="fonts/font3.fntdata" Type="http://schemas.openxmlformats.org/officeDocument/2006/relationships/font"/><Relationship Id="rId55" Target="fonts/font4.fntdata" Type="http://schemas.openxmlformats.org/officeDocument/2006/relationships/font"/><Relationship Id="rId56" Target="fonts/font5.fntdata" Type="http://schemas.openxmlformats.org/officeDocument/2006/relationships/font"/><Relationship Id="rId57" Target="fonts/font6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15" Target="../media/image6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7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7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12" Target="../media/image88.png" Type="http://schemas.openxmlformats.org/officeDocument/2006/relationships/image"/><Relationship Id="rId13" Target="../media/image89.png" Type="http://schemas.openxmlformats.org/officeDocument/2006/relationships/image"/><Relationship Id="rId14" Target="../media/image9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1.png" Type="http://schemas.openxmlformats.org/officeDocument/2006/relationships/image"/><Relationship Id="rId3" Target="../media/image102.png" Type="http://schemas.openxmlformats.org/officeDocument/2006/relationships/image"/><Relationship Id="rId4" Target="../media/image103.png" Type="http://schemas.openxmlformats.org/officeDocument/2006/relationships/image"/><Relationship Id="rId5" Target="../media/image5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6.png" Type="http://schemas.openxmlformats.org/officeDocument/2006/relationships/image"/><Relationship Id="rId4" Target="../media/image5.png" Type="http://schemas.openxmlformats.org/officeDocument/2006/relationships/image"/><Relationship Id="rId5" Target="../media/image102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2" Target="../media/image107.png" Type="http://schemas.openxmlformats.org/officeDocument/2006/relationships/image"/><Relationship Id="rId3" Target="../media/image108.png" Type="http://schemas.openxmlformats.org/officeDocument/2006/relationships/image"/><Relationship Id="rId4" Target="../media/image102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Relationship Id="rId8" Target="../media/image5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12.png" Type="http://schemas.openxmlformats.org/officeDocument/2006/relationships/image"/><Relationship Id="rId3" Target="../media/image103.png" Type="http://schemas.openxmlformats.org/officeDocument/2006/relationships/image"/><Relationship Id="rId4" Target="../media/image110.png" Type="http://schemas.openxmlformats.org/officeDocument/2006/relationships/image"/><Relationship Id="rId5" Target="../media/image111.png" Type="http://schemas.openxmlformats.org/officeDocument/2006/relationships/image"/><Relationship Id="rId6" Target="../media/image5.png" Type="http://schemas.openxmlformats.org/officeDocument/2006/relationships/image"/><Relationship Id="rId7" Target="../media/image102.pn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2" Target="../media/image104.png" Type="http://schemas.openxmlformats.org/officeDocument/2006/relationships/image"/><Relationship Id="rId3" Target="../media/image121.png" Type="http://schemas.openxmlformats.org/officeDocument/2006/relationships/image"/><Relationship Id="rId4" Target="../media/image122.png" Type="http://schemas.openxmlformats.org/officeDocument/2006/relationships/image"/><Relationship Id="rId5" Target="../media/image123.png" Type="http://schemas.openxmlformats.org/officeDocument/2006/relationships/image"/><Relationship Id="rId6" Target="../media/image124.png" Type="http://schemas.openxmlformats.org/officeDocument/2006/relationships/image"/><Relationship Id="rId7" Target="../media/image102.png" Type="http://schemas.openxmlformats.org/officeDocument/2006/relationships/image"/><Relationship Id="rId8" Target="../media/image5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1.png" Type="http://schemas.openxmlformats.org/officeDocument/2006/relationships/image"/><Relationship Id="rId3" Target="../media/image102.pn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png" Type="http://schemas.openxmlformats.org/officeDocument/2006/relationships/image"/><Relationship Id="rId12" Target="../media/image131.png" Type="http://schemas.openxmlformats.org/officeDocument/2006/relationships/image"/><Relationship Id="rId13" Target="../media/image5.png" Type="http://schemas.openxmlformats.org/officeDocument/2006/relationships/image"/><Relationship Id="rId14" Target="../media/image1.png" Type="http://schemas.openxmlformats.org/officeDocument/2006/relationships/image"/><Relationship Id="rId15" Target="../media/image2.png" Type="http://schemas.openxmlformats.org/officeDocument/2006/relationships/image"/><Relationship Id="rId16" Target="../media/image3.png" Type="http://schemas.openxmlformats.org/officeDocument/2006/relationships/image"/><Relationship Id="rId2" Target="../media/image102.png" Type="http://schemas.openxmlformats.org/officeDocument/2006/relationships/image"/><Relationship Id="rId3" Target="../media/image125.png" Type="http://schemas.openxmlformats.org/officeDocument/2006/relationships/image"/><Relationship Id="rId4" Target="../media/image126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27.png" Type="http://schemas.openxmlformats.org/officeDocument/2006/relationships/image"/><Relationship Id="rId8" Target="../media/image114.png" Type="http://schemas.openxmlformats.org/officeDocument/2006/relationships/image"/><Relationship Id="rId9" Target="../media/image128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2" Target="../media/image102.png" Type="http://schemas.openxmlformats.org/officeDocument/2006/relationships/image"/><Relationship Id="rId3" Target="../media/image132.png" Type="http://schemas.openxmlformats.org/officeDocument/2006/relationships/image"/><Relationship Id="rId4" Target="../media/image133.png" Type="http://schemas.openxmlformats.org/officeDocument/2006/relationships/image"/><Relationship Id="rId5" Target="../media/image134.pn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5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16000" y="11938000"/>
            <a:ext cx="3441700" cy="5715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l" lvl="0">
              <a:lnSpc>
                <a:spcPct val="1078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2026.05.29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5100" y="8813800"/>
            <a:ext cx="6261100" cy="6604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ctr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팀장 </a:t>
            </a:r>
            <a:r>
              <a:rPr lang="en-US" sz="3733" b="false" i="false" u="none" strike="noStrike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송정훈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55100" y="9601200"/>
            <a:ext cx="6261100" cy="6604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ctr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 </a:t>
            </a:r>
            <a:r>
              <a:rPr lang="en-US" sz="3733" b="false" i="false" u="none" strike="noStrike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민동찬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5100" y="10375900"/>
            <a:ext cx="6261100" cy="6604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ctr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 </a:t>
            </a:r>
            <a:r>
              <a:rPr lang="en-US" sz="3733" b="false" i="false" u="none" strike="noStrike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최준영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5100" y="11150600"/>
            <a:ext cx="6261100" cy="6604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ctr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팀원 </a:t>
            </a:r>
            <a:r>
              <a:rPr lang="en-US" sz="3733" b="false" i="false" u="none" strike="noStrike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배호민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48600" y="1574800"/>
            <a:ext cx="8674100" cy="6515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686300" y="6057900"/>
            <a:ext cx="24130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007600" y="4000500"/>
          <a:ext cx="4914900" cy="5715000"/>
        </p:xfrm>
        <a:graphic>
          <a:graphicData uri="http://schemas.openxmlformats.org/drawingml/2006/table">
            <a:tbl>
              <a:tblPr/>
              <a:tblGrid>
                <a:gridCol w="1284358"/>
                <a:gridCol w="3624743"/>
              </a:tblGrid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게임 소개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코어시스템/유틸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무기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6941800" y="4000500"/>
          <a:ext cx="4953000" cy="5715000"/>
        </p:xfrm>
        <a:graphic>
          <a:graphicData uri="http://schemas.openxmlformats.org/drawingml/2006/table">
            <a:tbl>
              <a:tblPr/>
              <a:tblGrid>
                <a:gridCol w="1296650"/>
                <a:gridCol w="3659434"/>
              </a:tblGrid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몬스터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05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아이템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06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시연/Q&amp;A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Arial"/>
                <a:ea typeface="Arial"/>
                <a:cs typeface="Arial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게임 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2300" y="2400300"/>
            <a:ext cx="126111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다양한 컨셉의 귀여운 캐릭터들이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대량의 몬스터를 처치하며 성장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하고, </a:t>
            </a:r>
          </a:p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장애물을 돌파해 보스를 공략하는 캐주얼 서바이벌 액션 게임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5600" y="4432300"/>
            <a:ext cx="19329400" cy="469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4114800"/>
            <a:ext cx="4546600" cy="647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77900" y="4165600"/>
            <a:ext cx="43561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66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핵심 재미 레퍼런스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800" y="7924800"/>
            <a:ext cx="3352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2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메가봉크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5500" y="5080000"/>
            <a:ext cx="4610100" cy="259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664200" y="6413500"/>
            <a:ext cx="3924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3D 공간에서 구현된 뱀서라이크식 성장 액션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29900" y="5080000"/>
            <a:ext cx="4610100" cy="2590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1252200" y="7924800"/>
            <a:ext cx="3352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2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폴가이즈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94000" y="5130800"/>
            <a:ext cx="3340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다양한 장애물 돌파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94000" y="5892800"/>
            <a:ext cx="33401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실패해도 웃긴 유쾌한 파티게임 감성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64200" y="5130800"/>
            <a:ext cx="3670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대량의 몬스터를 쓸어내는 시원한 전투감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2300" y="9728200"/>
            <a:ext cx="43688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차별점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97100" y="10058400"/>
            <a:ext cx="17284700" cy="25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3848100" y="10452100"/>
            <a:ext cx="131699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단순히 오래 살아남는 뱀서라이크가 아닌,</a:t>
            </a:r>
          </a:p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성장 → 장애물 돌파 → 보스 공략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으로 이어지는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목표형 서바이벌 게임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" y="673100"/>
            <a:ext cx="21996400" cy="12382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Arial"/>
                <a:ea typeface="Arial"/>
                <a:cs typeface="Arial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게임 플로우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84400" y="4305300"/>
            <a:ext cx="3492500" cy="196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66000" y="4343400"/>
            <a:ext cx="3454400" cy="194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509500" y="4343400"/>
            <a:ext cx="3454400" cy="208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81600" y="4343400"/>
            <a:ext cx="3289300" cy="194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14600" y="9575800"/>
            <a:ext cx="3302000" cy="179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45400" y="9575800"/>
            <a:ext cx="3327400" cy="186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47700" y="9575800"/>
            <a:ext cx="3289300" cy="1854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852400" y="11823700"/>
            <a:ext cx="4267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HP 모두 소진 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30800" y="11823700"/>
            <a:ext cx="4267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파이널 보스 격파 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95600" y="7200900"/>
            <a:ext cx="35941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6종류의 장애물 모두 극복 시 파이널 보스 등장 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300700" y="9613900"/>
            <a:ext cx="32385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254500"/>
            <a:ext cx="20256500" cy="2603500"/>
          </a:xfrm>
          <a:prstGeom prst="rect">
            <a:avLst/>
          </a:prstGeom>
        </p:spPr>
        <p:txBody>
          <a:bodyPr anchor="t" rtlCol="false" lIns="0" tIns="186267" rIns="0" bIns="0"/>
          <a:lstStyle/>
          <a:p>
            <a:pPr algn="ctr" lvl="0">
              <a:lnSpc>
                <a:spcPct val="99600"/>
              </a:lnSpc>
            </a:pPr>
            <a:r>
              <a:rPr lang="en-US" sz="14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코어시스템/유틸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05300" y="7264400"/>
            <a:ext cx="15354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송정훈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코어 시스템 아키텍쳐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2336800"/>
            <a:ext cx="17272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코어 시스템은 ServiceLocator와 Singleton을 병행하여 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3073400"/>
            <a:ext cx="18211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 성격의 기능은 ServiceLocator로 관리하고, Unity 매니저 객체는 Singleton으로 구현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445000"/>
            <a:ext cx="11798300" cy="7708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373100" y="4445000"/>
            <a:ext cx="8382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특징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73100" y="5334000"/>
            <a:ext cx="83566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인터페이스 기반으로 사용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초기화 시점에 코어 서비스를 등록하여 관리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테스트 용이 및 유연한 구조 제공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73100" y="8724900"/>
            <a:ext cx="83820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특징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73100" y="9588500"/>
            <a:ext cx="70104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어디서든 Instance로 간편하게 접근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중복 인스턴스 생성을 방지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씬 유지 여부에 따라 구조 분리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Singleton 로직 공통화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2705100"/>
            <a:ext cx="6134100" cy="4076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6934200"/>
            <a:ext cx="6134100" cy="4051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16000" y="11379200"/>
            <a:ext cx="8775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Instace / Awake / 중복 제거 로직 등이 매번 반복됨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909300" y="2705100"/>
            <a:ext cx="5422900" cy="7467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769600" y="11379200"/>
            <a:ext cx="8775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제네릭 기반 MonoSingleton&lt;T&gt;로 공통화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909300" y="10299700"/>
            <a:ext cx="54864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909300" y="10629900"/>
            <a:ext cx="5486400" cy="304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424400" y="6223000"/>
            <a:ext cx="60706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추가로 DontDestroyOnLoad를 사용하지 않는 싱글톤 로직도 구현 가능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커스텀 인스펙터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97000" y="2400300"/>
            <a:ext cx="6896100" cy="787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76200" y="2400300"/>
            <a:ext cx="6934200" cy="7874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97000" y="10414000"/>
            <a:ext cx="8369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7000" y="11137900"/>
            <a:ext cx="83566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List 데이터가 Element 단위로만 표시되어
내부 정보를 확인하려면 항목을 직접 펼쳐봐야 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6200" y="10414000"/>
            <a:ext cx="8369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해결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6200" y="11137900"/>
            <a:ext cx="83566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데이터를 Inspector에 직접 노출하여
데이터 상태를 한눈에 확인할 수 있도록 개선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Extension Method (확장 메서드)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2895600"/>
            <a:ext cx="6985000" cy="387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6946900"/>
            <a:ext cx="6985000" cy="3873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16000" y="11023600"/>
            <a:ext cx="73406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GetComponent 후 null 체크,</a:t>
            </a:r>
          </a:p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AddComponent 처리 코드가 반복됨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17300" y="2895600"/>
            <a:ext cx="8267700" cy="4241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417300" y="7302500"/>
            <a:ext cx="92075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GetOrAddComponent&lt;T&gt;()로</a:t>
            </a:r>
          </a:p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컴포넌트 조회와 생성을 하나의 메서드로 공통화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17300" y="11163300"/>
            <a:ext cx="7340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 간소화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17300" y="8915400"/>
            <a:ext cx="54864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254500"/>
            <a:ext cx="20256500" cy="2603500"/>
          </a:xfrm>
          <a:prstGeom prst="rect">
            <a:avLst/>
          </a:prstGeom>
        </p:spPr>
        <p:txBody>
          <a:bodyPr anchor="t" rtlCol="false" lIns="0" tIns="186267" rIns="0" bIns="0"/>
          <a:lstStyle/>
          <a:p>
            <a:pPr algn="ctr" lvl="0">
              <a:lnSpc>
                <a:spcPct val="99600"/>
              </a:lnSpc>
            </a:pPr>
            <a:r>
              <a:rPr lang="en-US" sz="14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8500" y="7327900"/>
            <a:ext cx="15354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배호민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패턴 분류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3644900"/>
            <a:ext cx="3416300" cy="4038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4381500"/>
            <a:ext cx="2552700" cy="255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3644900"/>
            <a:ext cx="3416300" cy="850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43000" y="37973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ProjectileWeapon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4600" y="65659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적을 향해 투사체를 </a:t>
            </a:r>
          </a:p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발사하는 무기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84700" y="3644900"/>
            <a:ext cx="3416300" cy="4038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84700" y="3644900"/>
            <a:ext cx="34163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711700" y="37973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HomingWeapon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13300" y="65659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적을 추적하는 유도 </a:t>
            </a:r>
          </a:p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투사체 무기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66100" y="3644900"/>
            <a:ext cx="3416300" cy="4038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66100" y="3644900"/>
            <a:ext cx="3416300" cy="850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280400" y="37973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OrbitWeapon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0" y="65659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주변을 회전하며 피해를 주는 무기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34800" y="3644900"/>
            <a:ext cx="3416300" cy="4038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34800" y="3644900"/>
            <a:ext cx="3416300" cy="8509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861800" y="37973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AuraWeapon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3400" y="65659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주변 적에게 지속 피해를 주는 오라형 무기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03500" y="3644900"/>
            <a:ext cx="3416300" cy="4038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03500" y="3644900"/>
            <a:ext cx="3416300" cy="850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443200" y="3873500"/>
            <a:ext cx="31496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ChainLightningWeapon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32100" y="65659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 사이를 연쇄적으로 타격하는 번개형 무기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7975600"/>
            <a:ext cx="3416300" cy="4038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7975600"/>
            <a:ext cx="3416300" cy="850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143000" y="81407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MeteorWeapon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4600" y="108966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범위에 오브젝트를 떨어뜨리는 광역 무기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84700" y="7975600"/>
            <a:ext cx="3416300" cy="4038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84700" y="7975600"/>
            <a:ext cx="3416300" cy="8509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4711700" y="81407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DroneWeapon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13300" y="108966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드론이 자동으로 공격하는 소환형 무기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66100" y="7975600"/>
            <a:ext cx="3416300" cy="4038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66100" y="7975600"/>
            <a:ext cx="3416300" cy="8509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8280400" y="81407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BoomerangWeapon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82000" y="108966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되돌아오며 적을 타격하는 무기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34800" y="7975600"/>
            <a:ext cx="3416300" cy="4038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34800" y="7975600"/>
            <a:ext cx="3416300" cy="8509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1861800" y="8204200"/>
            <a:ext cx="31496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BouncyProjectileWeapon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63400" y="108966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튕기며 여러 적을 공격하는 투사체 무기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03500" y="7975600"/>
            <a:ext cx="3416300" cy="4038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03500" y="7975600"/>
            <a:ext cx="3416300" cy="8509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5443200" y="8178800"/>
            <a:ext cx="31496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PiercingRaycastWeapon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532100" y="10896600"/>
            <a:ext cx="295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1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직선상 적을 관통 타격하는 무기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5600" y="2336800"/>
            <a:ext cx="17272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무기 시스템은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공격 로직에 따라 타입을 구분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 다양한 전투 패턴을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확장 가능하게 구성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59400" y="4711700"/>
            <a:ext cx="1866900" cy="18669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19000" y="4470400"/>
            <a:ext cx="2247900" cy="2247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836900" y="4470400"/>
            <a:ext cx="2349500" cy="2349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32400" y="8966200"/>
            <a:ext cx="2120900" cy="2120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38300" y="8737600"/>
            <a:ext cx="2171700" cy="2171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572500" y="4356100"/>
            <a:ext cx="2590800" cy="25908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458700" y="8940800"/>
            <a:ext cx="1955800" cy="19558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582900" y="8597900"/>
            <a:ext cx="2870200" cy="28702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991600" y="9055100"/>
            <a:ext cx="1739900" cy="173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레벨별 강화 시스템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43200" y="3873500"/>
            <a:ext cx="31496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ChainLightningWeapon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5600" y="2400300"/>
            <a:ext cx="22987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무기는 WeaponLevelData로 레벨별 성능을 정의하고, 이를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WeaponDefinitionSO에서 관리해 수치 조정과 확장이 쉽도록 구성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45700" y="3873500"/>
            <a:ext cx="6248400" cy="709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83000" y="4787900"/>
            <a:ext cx="1422400" cy="4305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741900" y="6629400"/>
            <a:ext cx="36322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8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레벨별 스텟 정의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54600" y="7416800"/>
            <a:ext cx="36195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레벨의 변동 스탯을 개별적으로 설정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44700" y="3810000"/>
            <a:ext cx="5969000" cy="7962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514600" y="3619500"/>
            <a:ext cx="50292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강화 적용 흐름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45700" y="11252200"/>
            <a:ext cx="971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코드 수정 없이 SO 데이터만으로 밸런스 조절 가능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클래스 구조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43200" y="3873500"/>
            <a:ext cx="31496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ChainLightningWeapon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5600" y="2400300"/>
            <a:ext cx="22987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공통 기능은 부모 클래스에서 처리하고, 무기별 공격 방식만 자식 클래스에서 구현하도록 분리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09600" y="3644900"/>
            <a:ext cx="15074900" cy="848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52800" y="7962900"/>
            <a:ext cx="6921500" cy="316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581900"/>
            <a:ext cx="2933700" cy="749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6611600" y="7645400"/>
            <a:ext cx="287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핵심 효과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6200" y="8750300"/>
            <a:ext cx="55499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공통 로직 재사용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패턴별 책임 분리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신규 무기 확장에 용이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2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종이비행기 (HomingWeapon)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713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쉘 스핀 (OribitWeapon)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713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무기 - 젤리곰 드롭 (MeteorWeapon)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254500"/>
            <a:ext cx="20256500" cy="2603500"/>
          </a:xfrm>
          <a:prstGeom prst="rect">
            <a:avLst/>
          </a:prstGeom>
        </p:spPr>
        <p:txBody>
          <a:bodyPr anchor="t" rtlCol="false" lIns="0" tIns="186267" rIns="0" bIns="0"/>
          <a:lstStyle/>
          <a:p>
            <a:pPr algn="ctr" lvl="0">
              <a:lnSpc>
                <a:spcPct val="99600"/>
              </a:lnSpc>
            </a:pPr>
            <a:r>
              <a:rPr lang="en-US" sz="14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8500" y="7327900"/>
            <a:ext cx="15354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최준영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32100" y="4610100"/>
          <a:ext cx="4368800" cy="15875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373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545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일반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플레이어 기본 추격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32100" y="2413000"/>
            <a:ext cx="1968500" cy="196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57800" y="2425700"/>
            <a:ext cx="1955800" cy="1955800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750300" y="4610100"/>
          <a:ext cx="4368800" cy="15875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373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545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돌진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플레이어를 향해 돌진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50300" y="2413000"/>
            <a:ext cx="1968500" cy="196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76000" y="2425700"/>
            <a:ext cx="1955800" cy="1955800"/>
          </a:xfrm>
          <a:prstGeom prst="rect">
            <a:avLst/>
          </a:prstGeom>
        </p:spPr>
      </p:pic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4668500" y="4546600"/>
          <a:ext cx="4368800" cy="16637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6417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947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원거리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사거리 내에서 원거리 공격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75000" y="2413000"/>
            <a:ext cx="1968500" cy="1968500"/>
          </a:xfrm>
          <a:prstGeom prst="rect">
            <a:avLst/>
          </a:prstGeom>
        </p:spPr>
      </p:pic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4668500" y="9842500"/>
          <a:ext cx="4368800" cy="15875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373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545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자폭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플레이어와 근접 시 자폭 공격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75000" y="7658100"/>
            <a:ext cx="1955800" cy="1955800"/>
          </a:xfrm>
          <a:prstGeom prst="rect">
            <a:avLst/>
          </a:prstGeom>
        </p:spPr>
      </p:pic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8750300" y="9855200"/>
          <a:ext cx="4368800" cy="15875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373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545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비행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빠른 속도로 비행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750300" y="7658100"/>
            <a:ext cx="1968500" cy="1968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176000" y="7670800"/>
            <a:ext cx="1955800" cy="1955800"/>
          </a:xfrm>
          <a:prstGeom prst="rect">
            <a:avLst/>
          </a:prstGeom>
        </p:spPr>
      </p:pic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2832100" y="9855200"/>
          <a:ext cx="4368800" cy="1587500"/>
        </p:xfrm>
        <a:graphic>
          <a:graphicData uri="http://schemas.openxmlformats.org/drawingml/2006/table">
            <a:tbl>
              <a:tblPr/>
              <a:tblGrid>
                <a:gridCol w="1014139"/>
                <a:gridCol w="3354908"/>
              </a:tblGrid>
              <a:tr h="6373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역할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545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레이져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피격 범위를 보여준 후 레이저 공격</a:t>
                      </a:r>
                      <a:endParaRPr lang="en-US" sz="1100"/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32100" y="7658100"/>
            <a:ext cx="1968500" cy="1968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257800" y="7670800"/>
            <a:ext cx="1955800" cy="1955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781300" y="63373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BasicEnemy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99500" y="63373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DashEnemy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17700" y="63373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RangedEnemy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81300" y="115570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LaserEnemy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99500" y="115570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FlyingEnemy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17700" y="11557000"/>
            <a:ext cx="4483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SuicideEnemy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(일반) - 타입별 소개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4584700"/>
            <a:ext cx="15062200" cy="7505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5600" y="23368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Enemy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공통 로직을 베이스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 두고, 타입별 공격·이동 패턴만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서브클래스로 확장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3073400"/>
            <a:ext cx="156845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새 몬스터 추가 시 공통 코드 재작성 없이 패턴·프리팹만으로 확장 가능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(일반) - 상속 구조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스폰 - Stage / Wave 데이터 (SO)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23368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스폰 조건을 SO(에셋)로 분리 →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디버깅·밸런스 관리 용이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3683000"/>
            <a:ext cx="4330700" cy="868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73800" y="3683000"/>
            <a:ext cx="3937000" cy="2501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65900" y="7645400"/>
            <a:ext cx="3721100" cy="4356100"/>
          </a:xfrm>
          <a:prstGeom prst="rect">
            <a:avLst/>
          </a:prstGeom>
        </p:spPr>
      </p:pic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744200" y="7645400"/>
          <a:ext cx="8432800" cy="4356100"/>
        </p:xfrm>
        <a:graphic>
          <a:graphicData uri="http://schemas.openxmlformats.org/drawingml/2006/table">
            <a:tbl>
              <a:tblPr/>
              <a:tblGrid>
                <a:gridCol w="1958373"/>
                <a:gridCol w="6478561"/>
              </a:tblGrid>
              <a:tr h="62292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설정 항목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 줄 설명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329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웨이브 시작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페이즈 시작 후 N초에 이 웨이브 활성 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0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(Wave Start Time)</a:t>
                      </a:r>
                    </a:p>
                  </a:txBody>
                  <a:tcPr anchor="ctr" marL="25400" marT="70356" marR="25400" marB="6286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9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스폰 규칙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N초마다 최소~최대 M마리 스폰 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0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(Spawn Interval, Min/Max Count)</a:t>
                      </a:r>
                    </a:p>
                  </a:txBody>
                  <a:tcPr anchor="ctr" marL="25400" marT="70356" marR="25400" marB="6286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9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등장 몬스터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몬스터 풀</a:t>
                      </a:r>
                      <a:r>
                        <a:rPr lang="en-US" sz="20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(EnemyPoolDataSO)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등록  및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가중치</a:t>
                      </a:r>
                      <a:r>
                        <a:rPr lang="en-US" sz="20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(Weight)로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등장 비율 조절</a:t>
                      </a:r>
                    </a:p>
                  </a:txBody>
                  <a:tcPr anchor="ctr" marL="25400" marT="70356" marR="25400" marB="7035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9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미니보스</a:t>
                      </a:r>
                      <a:endParaRPr lang="en-US" sz="1100"/>
                    </a:p>
                  </a:txBody>
                  <a:tcPr anchor="ctr" marL="25400" marT="65362" marR="25400" marB="6536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웨이브 시작 시 등장할 미니보스 종류·마리 수 설정 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0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(Mini Boss Prefabs, Count)</a:t>
                      </a:r>
                    </a:p>
                  </a:txBody>
                  <a:tcPr anchor="ctr" marL="25400" marT="70356" marR="25400" marB="6286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73800" y="7302500"/>
            <a:ext cx="13258800" cy="5067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340000">
            <a:off x="7696200" y="6654800"/>
            <a:ext cx="1092200" cy="139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547100" y="6477000"/>
            <a:ext cx="3454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Wave SO 등록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스폰 - SO 실행과 성능 최적화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2336800"/>
            <a:ext cx="159131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앞서 정의한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WaveSO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조건을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EnemyManager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 읽어 몬스터를 필드에 스폰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동시에 활성화되는 Enemy가 많아지면 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프레임이 저하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되므로, </a:t>
            </a:r>
            <a:r>
              <a:rPr lang="en-US" sz="346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런타임(CPU) · 렌더링(GPU) 양쪽에서 최적화를 진행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927600"/>
            <a:ext cx="9499600" cy="6032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023600" y="4927600"/>
            <a:ext cx="128270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오브젝트 풀링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- Instantiate/Destroy 반복 대신 풀 재사용으로  GC 호출 감소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4500" y="11176000"/>
            <a:ext cx="5664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대량 Enemy 스폰 시 프레임 드랍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3600" y="6604000"/>
            <a:ext cx="12827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ManagedUpdate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개별 Update 제거, 매니저가 몬스터 AI 일괄 갱신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3600" y="7632700"/>
            <a:ext cx="12827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Grid 기반 공간 분할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- 물리·콜라이더 없이 몬스터 끼리 겹치지 않게 처리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23600" y="8648700"/>
            <a:ext cx="12827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Multi-Raycast 이동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- NavMesh 없이 3D 지형을 따라 플레이어 추격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23600" y="9677400"/>
            <a:ext cx="128270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VAT + GPU Instancing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- 동일한 메쉬를 가진 몬스터 다수 출현 시 드로우·애니메이션 비용 절감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최적화 - 오브젝트 풀링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6000" y="3060700"/>
            <a:ext cx="15252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Instantiate / Destroy 반복 시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GC가 자주 발생해 성능 저하 가능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0" y="11760200"/>
            <a:ext cx="15252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 생성 비용을 줄여 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GC 부담을 완화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하고,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대량 스폰 상황의 프레임 안정성 개선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902200"/>
            <a:ext cx="16522700" cy="5727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20800" y="9258300"/>
            <a:ext cx="157353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9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전투 중 반복적으로 생성되는 Enemy, DamageText, ExpObject 등에 대해 </a:t>
            </a:r>
            <a:r>
              <a:rPr lang="en-US" sz="309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타입별로 별도의 Pool</a:t>
            </a:r>
            <a:r>
              <a:rPr lang="en-US" sz="309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구성하여 Instantiate / Destroy 호출을 줄였다.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0800" y="5410200"/>
            <a:ext cx="14287500" cy="3390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16000" y="2400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문제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0" y="110871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결과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000" y="4178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해결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4902200"/>
            <a:ext cx="19900900" cy="572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960100" y="6858000"/>
            <a:ext cx="9639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9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중앙 관리자인 EnemyManager가 활성화된 Enemy를 리스트로 관리하고, 매 프레임 </a:t>
            </a:r>
            <a:r>
              <a:rPr lang="en-US" sz="309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각 Enemy의 ManagedUpdate()를 일괄 호출</a:t>
            </a:r>
            <a:r>
              <a:rPr lang="en-US" sz="309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하도록 변경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5600" y="1130300"/>
            <a:ext cx="13487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최적화 - ManagedUpdate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000" y="3060700"/>
            <a:ext cx="187325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수백 개의 Enemy가 각자 Update()를 실행하면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Unity 메시지 호출 오버헤드와 CPU 연산 부담이 증가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0" y="11760200"/>
            <a:ext cx="17094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개별 Update 비용을 줄여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CPU 연산 효율을 개선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하고 대량 스폰 상황에서도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일관된 갱신 흐름을 유지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000" y="2400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6000" y="110871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0" y="4178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해결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5283200"/>
            <a:ext cx="9067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4902200"/>
            <a:ext cx="22352000" cy="572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최적화 -  Grid 기반 공간 분할(Spatial Partitioning)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0" y="3060700"/>
            <a:ext cx="19100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대량 Enemy에 Unity 물리 기반 충돌 처리를 적용할 경우 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충돌 계산과 물리 콜백 비용이 누적되어 프레임 저하 발생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000" y="2400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0" y="4178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해결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5422900"/>
            <a:ext cx="8382000" cy="4660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16000" y="11760200"/>
            <a:ext cx="19342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겹침 방지에 필요한 물리만 코드로 계산해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Unity 물리 의존을 줄였고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가까운 Enemy만 처리해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연산 최적화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달성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0" y="110871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결과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12400" y="5981700"/>
            <a:ext cx="122301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몬스터 위치를 </a:t>
            </a:r>
            <a:r>
              <a:rPr lang="en-US" sz="327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Grid Cell 단위</a:t>
            </a:r>
            <a:r>
              <a:rPr lang="en-US" sz="327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 나누어 같은 Cell에 있는 몬스터들을 그룹화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12400" y="7467600"/>
            <a:ext cx="122301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현재 Cell과 인접 Cell의 몬스터만 검사하여 분리(Separation) </a:t>
            </a:r>
            <a:r>
              <a:rPr lang="en-US" sz="327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계산 범위 축소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12400" y="8966200"/>
            <a:ext cx="122301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매 프레임마다 계산하지 않고 일정 주기(Interval)마다 처리되도록 구현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4902200"/>
            <a:ext cx="20929600" cy="572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최적화 -  NavMesh 없는 3D 추적 로직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0" y="3060700"/>
            <a:ext cx="19342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대량 Enemy에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NavMeshAgent 기반 추적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적용하면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경로 재계산과 회피 연산 비용이 누적되어 프레임 저하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 발생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000" y="2400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0" y="4178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해결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000" y="11760200"/>
            <a:ext cx="19342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NavMesh 없이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 수백 마리 Enemy가 플레이어를 안정적으로 추적하며,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다층 지형 대응과 연산 최적화를 동시에 달성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6000" y="110871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17000" y="5384800"/>
            <a:ext cx="1217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플레이어 좌표 기반 XZ 추적 (수평)</a:t>
            </a:r>
            <a:b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sp>
        <p:nvSpPr>
          <p:cNvPr name="TextBox 16" id="16"/>
          <p:cNvSpPr txBox="true"/>
          <p:nvPr/>
        </p:nvSpPr>
        <p:spPr>
          <a:xfrm rot="0">
            <a:off x="9194800" y="5956300"/>
            <a:ext cx="1217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플레이어 위치를 기준으로 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Y를 제외한 수평 방향(XZ) 을 계산해 이동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7000" y="6794500"/>
            <a:ext cx="1217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2. 플레이어와의 Y 단차에 따른 조건부 Raycast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94800" y="7366000"/>
            <a:ext cx="121793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1" marL="342900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Y 단차에 따라 Low Ray(단일·단거리) / High Multi-Raycast(장거리·다중)로 전환해, 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상황에 맞는 Raycast만 사용해 비용 절감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17000" y="8661400"/>
            <a:ext cx="1217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3. 다층 지형 Y 보정</a:t>
            </a:r>
            <a:b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sp>
        <p:nvSpPr>
          <p:cNvPr name="TextBox 20" id="20"/>
          <p:cNvSpPr txBox="true"/>
          <p:nvPr/>
        </p:nvSpPr>
        <p:spPr>
          <a:xfrm rot="0">
            <a:off x="9194800" y="9220200"/>
            <a:ext cx="12179300" cy="965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1" marL="342900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High Multi-Raycast에서 여러 Ground hit 중 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플레이어 Y와 가장 가까운 지면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선택해 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Y축 이동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5143500"/>
            <a:ext cx="6794500" cy="5092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최적화 -  VAT + GPU Instancing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6000" y="3060700"/>
            <a:ext cx="2153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대량 Enemy에서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Animator + SkinnedMeshRenderer 기반 애니메이션 처리 비용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 누적되어 프레임 저하 발생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0" y="24003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문제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775200"/>
            <a:ext cx="20929600" cy="5842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16000" y="40386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해결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7100" y="9334500"/>
            <a:ext cx="89027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SmartVAT툴로 애니메이션을 Texture로 Bake</a:t>
            </a:r>
            <a:r>
              <a:rPr lang="en-US" sz="25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하고, Shader에서 프레임 단위로 샘플링하여 Animator 없이 재생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0" y="9334500"/>
            <a:ext cx="97155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Mesh·Material을 통일하고 </a:t>
            </a:r>
            <a:r>
              <a:rPr lang="en-US" sz="25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GPU Instancing을 적용</a:t>
            </a:r>
            <a:r>
              <a:rPr lang="en-US" sz="25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
동일한 Enemy의 </a:t>
            </a:r>
            <a:r>
              <a:rPr lang="en-US" sz="25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렌더링 호출을 일괄 처리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0" y="11760200"/>
            <a:ext cx="1859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Animator 기반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애니메이션 처리 비용 감소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+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Draw Call 감소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 대량 Enemy 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렌더링 성능 개선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000" y="110871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결과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98900" y="5016500"/>
            <a:ext cx="5486400" cy="411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50900" y="50165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(보스) - 타입별 소개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5130800"/>
            <a:ext cx="2628900" cy="313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60800" y="5130800"/>
            <a:ext cx="2628900" cy="313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51400" y="5130800"/>
            <a:ext cx="5448300" cy="476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85100" y="5130800"/>
            <a:ext cx="2628900" cy="332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693400" y="5130800"/>
            <a:ext cx="2628900" cy="3327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85100" y="8775700"/>
            <a:ext cx="2628900" cy="3200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06100" y="8775700"/>
            <a:ext cx="2628900" cy="320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601700" y="5130800"/>
            <a:ext cx="2628900" cy="3327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627100" y="8775700"/>
            <a:ext cx="2628900" cy="3149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55600" y="2336800"/>
            <a:ext cx="1526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미니보스(2), 스테이지보스(6), 최종보스(1) 총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9종의 보스 구현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35200" y="4191000"/>
            <a:ext cx="3251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Mini Boss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8600" y="4191000"/>
            <a:ext cx="3251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Stage Boss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643600" y="4191000"/>
            <a:ext cx="3251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Final Boss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000" y="2997200"/>
            <a:ext cx="15252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스테이지/파이널 보스는 각 2~3종의 스킬 패턴 보유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(보스) - 상속 및 패턴 구조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2900" y="2959100"/>
            <a:ext cx="107188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BossEnemy에서 공통 로직을 관리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하고, 보스별 공격 패턴은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서브클래스에서 확장하여 유지보수성과 확장성을 확보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6700" y="4419600"/>
            <a:ext cx="13411200" cy="755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261600" y="7747000"/>
            <a:ext cx="78867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125700" y="3390900"/>
            <a:ext cx="6743700" cy="8432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062200" y="2959100"/>
            <a:ext cx="6883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패턴 기반 구조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1130300"/>
            <a:ext cx="186055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 (보스) - 패턴 예고 시스템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00" y="2336800"/>
            <a:ext cx="19024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BossTelegraph를 공통 예고 장판 모듈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 분리하여, 보스별 </a:t>
            </a:r>
            <a:r>
              <a:rPr lang="en-US" sz="34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패턴 확장과 전투 연출의 일관성을 확보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3606800"/>
            <a:ext cx="8140700" cy="4584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44100" y="3606800"/>
            <a:ext cx="8140700" cy="4584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8902700"/>
            <a:ext cx="19926300" cy="318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6700" y="8521700"/>
            <a:ext cx="2933700" cy="749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74800" y="8597900"/>
            <a:ext cx="287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핵심 효과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36700" y="9613900"/>
            <a:ext cx="5499100" cy="2108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78000" y="10147300"/>
            <a:ext cx="50292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장판 예고, 범위 표시,
타격 판정을 공통 시스템으로 처리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28000" y="9613900"/>
            <a:ext cx="5499100" cy="21082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8458200" y="9880600"/>
            <a:ext cx="48514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보스별로 위치·반경·데미지·지속시간만 설정하여 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동일한 구조를 재사용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19300" y="9613900"/>
            <a:ext cx="5499100" cy="2108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960600" y="9906000"/>
            <a:ext cx="50292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신규 보스 패턴 추가 시
반복 구현을 줄이고 빠르게 확장 가능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51700" y="10325100"/>
            <a:ext cx="673100" cy="685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0" y="10325100"/>
            <a:ext cx="6731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254500"/>
            <a:ext cx="20256500" cy="2603500"/>
          </a:xfrm>
          <a:prstGeom prst="rect">
            <a:avLst/>
          </a:prstGeom>
        </p:spPr>
        <p:txBody>
          <a:bodyPr anchor="t" rtlCol="false" lIns="0" tIns="186267" rIns="0" bIns="0"/>
          <a:lstStyle/>
          <a:p>
            <a:pPr algn="ctr" lvl="0">
              <a:lnSpc>
                <a:spcPct val="99600"/>
              </a:lnSpc>
            </a:pPr>
            <a:r>
              <a:rPr lang="en-US" sz="14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성장 시스템 기획/데이터화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8500" y="7327900"/>
            <a:ext cx="15354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민동찬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7505700" y="7721600"/>
            <a:ext cx="93726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38100" y="4914900"/>
            <a:ext cx="101346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구조 설계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69900" y="6527800"/>
            <a:ext cx="101219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-일관성을 위해 아이템, 무기를 장남감에서 차용 패시브 또한 뱃지로 명명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-확장 가능한 데이터 구조 설계을 위해 SO를 통한 기획을 데이터화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2540000"/>
            <a:ext cx="212344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담당 역할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900" y="5054600"/>
            <a:ext cx="101346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콘셉트 정리 + 기획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1800" y="6388100"/>
            <a:ext cx="10147300" cy="219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어린 아이들이 캐릭터 &gt;   무기나 아이템을 아이들의 일상에서 가져오려함.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-어린이, 장난감 같은 유아틱의 컨셉을 가진 뱀서라이크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&gt;게임 분위기와 방향성은 밝고 아이들이 노는 놀이터 + 너무 다크하지 않게 일관성 유지 노력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71500" y="5981700"/>
            <a:ext cx="90170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5981700"/>
            <a:ext cx="9017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2552700"/>
            <a:ext cx="21234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4610100"/>
            <a:ext cx="21234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861300" y="3581400"/>
            <a:ext cx="15748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4935200" y="3581400"/>
            <a:ext cx="15748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65300" y="33147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게임 콘셉트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7300" y="33147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무기 예시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76600" y="33147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뱃지(패시브) 및 아이템 예시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5054600"/>
            <a:ext cx="6604000" cy="472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어린아이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장난감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인형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간식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놀이 도구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밝고 친근한 분위기의 캐주얼 3D 뱀서라이크 게임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캐주얼 유아틱 콘셉트 기반 기획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0800" y="5054600"/>
            <a:ext cx="6604000" cy="412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당근 캐논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선물 폭탄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종이비행기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젤리 곰 운석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칼이나 총 대신 직관적이고 귀여운 오브젝트 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중심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27400" y="5054600"/>
            <a:ext cx="6604000" cy="654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패시브 &gt; 뱃지: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공격력 증가 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쿨타임 감소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이동속도 증가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치명타율 증가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아이템-장난감, 학용품: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소풍 배낭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말끔 지우개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코끼리 인형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고양이 가면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1400" y="6578600"/>
            <a:ext cx="91440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런타임 구조 연결 필요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201900" y="7378700"/>
            <a:ext cx="90170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38400" y="6527800"/>
            <a:ext cx="91440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원본 데이터 SO와 런타임 데이터로 분리 필요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51100" y="7607300"/>
            <a:ext cx="9118600" cy="292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플레이 중 변하는 값과 원본 데이터가 섞이면 관리 어려움
- 원본 데이터 오염 위험
- 플레이마다 독립적인 상태 관리 불가능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765300" y="6578600"/>
            <a:ext cx="91440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기획을 SO로 데이터화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53100" y="6527800"/>
            <a:ext cx="15494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436600" y="6527800"/>
            <a:ext cx="15494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2578100"/>
            <a:ext cx="212344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473200" y="14732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데이터의 분리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28800" y="3175000"/>
            <a:ext cx="8699500" cy="487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0" y="3175000"/>
            <a:ext cx="8686800" cy="487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2578100"/>
            <a:ext cx="21234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73200" y="14732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구조 설계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1100" y="8343900"/>
            <a:ext cx="76073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SO는 변경되지 않는 설계도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58900" y="8255000"/>
            <a:ext cx="73660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런타임은 해당 플레이 세션에서만 변하는 상태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9080500" y="6146800"/>
            <a:ext cx="55753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03000" y="5308600"/>
            <a:ext cx="11176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0" y="5448300"/>
            <a:ext cx="8636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430000" y="5854700"/>
            <a:ext cx="863600" cy="215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8737600" y="9575800"/>
            <a:ext cx="6375400" cy="295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이유 : 상태 혼재 방지</a:t>
            </a:r>
          </a:p>
          <a:p>
            <a:pPr algn="l" lvl="2" marL="766064" indent="-342900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33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 중 상태를 SO에 저장 시 문제</a:t>
            </a:r>
          </a:p>
          <a:p>
            <a:pPr algn="l" lvl="2" marL="766064" indent="-342900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33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원본 데이터와 현재 상태 혼재</a:t>
            </a:r>
          </a:p>
          <a:p>
            <a:pPr algn="l" lvl="2" marL="766064" indent="-342900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33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 플레이에 영향을 줄 위험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051800" y="6985000"/>
            <a:ext cx="82677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32000" y="3962400"/>
            <a:ext cx="91440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WeaponDefinitionSO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71500" y="4826000"/>
            <a:ext cx="90170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208000" y="3975100"/>
            <a:ext cx="91440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WeaponInstance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0700" y="5054600"/>
            <a:ext cx="9118600" cy="472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현재 레벨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현재 쿨타임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최대 레벨 도달 여부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진화 완료 여부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한판에서의 무기를 관리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95500" y="4826000"/>
            <a:ext cx="9017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33200" y="6553200"/>
            <a:ext cx="11176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60200" y="6692900"/>
            <a:ext cx="8636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1760200" y="7086600"/>
            <a:ext cx="863600" cy="215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044700" y="5054600"/>
            <a:ext cx="9118600" cy="472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무기 ID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이름, 설명, 아이콘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프리팹 참조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레벨별 수치 데이터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진화 무기 ID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필요 뱃지 ID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변하지 않는 무기의 설계도 역할을 하며, 여러 판에서 재사용 가능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1400" y="11455400"/>
            <a:ext cx="95631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&gt;&gt;아이템, 뱃지도 마찬가지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2578100"/>
            <a:ext cx="212344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73200" y="14732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예시 : 무기 성장 구조 - 무기 정의와 실제 보유 상태 분리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0100" y="4254500"/>
            <a:ext cx="20256500" cy="2603500"/>
          </a:xfrm>
          <a:prstGeom prst="rect">
            <a:avLst/>
          </a:prstGeom>
        </p:spPr>
        <p:txBody>
          <a:bodyPr anchor="t" rtlCol="false" lIns="0" tIns="186267" rIns="0" bIns="0"/>
          <a:lstStyle/>
          <a:p>
            <a:pPr algn="ctr" lvl="0">
              <a:lnSpc>
                <a:spcPct val="99600"/>
              </a:lnSpc>
            </a:pPr>
            <a:r>
              <a:rPr lang="en-US" sz="14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어려웠던점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8500" y="7327900"/>
            <a:ext cx="15354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민동찬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70000" y="3009900"/>
            <a:ext cx="103505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초기에 맡은 역할: UI 작업 담당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13100" y="4279900"/>
            <a:ext cx="889000" cy="527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37600" y="4279900"/>
            <a:ext cx="889000" cy="527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4249400" y="4279900"/>
            <a:ext cx="889000" cy="5270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9786600" y="4279900"/>
            <a:ext cx="889000" cy="527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431800" y="9271000"/>
            <a:ext cx="3429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838700" y="8178800"/>
            <a:ext cx="34290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363200" y="8178800"/>
            <a:ext cx="34290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5887700" y="8178800"/>
            <a:ext cx="34290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24000" y="6642100"/>
            <a:ext cx="335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기본 구조 활용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48500" y="6642100"/>
            <a:ext cx="335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구조 이해의 필요성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3000" y="6642100"/>
            <a:ext cx="33528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기존 구조 위에 UI 구현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97500" y="6642100"/>
            <a:ext cx="4102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내 역량 이상의 Task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1300" y="7696200"/>
            <a:ext cx="4635500" cy="440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- 팀장님이 'GameManager', 'UIManager', 'ServiceBootstrapper', 'ServiceLocator', 'MonoSingleton' 등 기본 구조 제공
- UI 관련 틀을 먼저 만들어주심
- 이 구조를 활용해 UI 구현하는 역할 담당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48500" y="8445500"/>
            <a:ext cx="4749800" cy="243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- 단순히 버튼 만들고 화면 띄우는 수준 아님
- 기존 구조를 이해하고 그 위에 UI 올리는 작업 필요
- 전체 시스템과의 연결 고려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3000" y="8445500"/>
            <a:ext cx="4864100" cy="293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- 기존에 만들어진 구조를 기반으로 작업
- 새로운 UI 요소를 기존 시스템에 통합
- 전체 아키텍처와 조화를 이루는 UI 개발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21300" y="8445500"/>
            <a:ext cx="50292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- UI 작업이지만 코드 구조 이해 필수
- 매니저 시스템과의 상호작용 파악
- 단순 구현이 아닌 설계 이해 요구됨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4483100"/>
            <a:ext cx="21234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749800" y="8750300"/>
            <a:ext cx="7581900" cy="12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92300" y="2781300"/>
            <a:ext cx="20599400" cy="1498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가장 먼저 어려웠던 점은 기존 프로젝트 구조를 이해하는 것이었습니다. 'UIManager' 안에는 'UniTask', 비동기 처리, 서비스 등록, UI 캐싱 같은 개념이 사용되고 있었습니다. 내 실력으로는 처음에 이 구조를 바로 이해하기 어려웠 다. AI를 활용해 이해하려고 했지만 완전히 이해했다기보다는 전체 흐름을 어렴풋하게 파악하는 데만 며칠이 걸렸습니다.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7861300"/>
            <a:ext cx="6731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UniTask와 비동기 처리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8597900"/>
            <a:ext cx="6731000" cy="231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Unity에서 비동기 프로그래밍을 효율적으로 처리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'UIManager' 내부에서 사용됨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개념 이해가 어려웠음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26500" y="7861300"/>
            <a:ext cx="6731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서비스 등록 및 UI 캐싱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26500" y="8597900"/>
            <a:ext cx="67310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서비스 등록 구조 파악 필요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UI 캐싱 시스템 이해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전체 구조의 복잡성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39500" y="5308600"/>
            <a:ext cx="1917700" cy="191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35400" y="5219700"/>
            <a:ext cx="2108200" cy="210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516600" y="5295900"/>
            <a:ext cx="1955800" cy="1955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129000" y="7861300"/>
            <a:ext cx="6731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AI 활용의 한계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29000" y="8597900"/>
            <a:ext cx="67310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AI로 이해 시도했으나 완전한 이해 어려움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전체 흐름 파악에 일주일 소요</a:t>
            </a:r>
          </a:p>
          <a:p>
            <a:pPr algn="ctr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초반 UI 작업 지체 발생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2540000"/>
            <a:ext cx="212344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052300" y="8750300"/>
            <a:ext cx="75819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첫 번째 어려움: 기존 구조 이해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7505700" y="7721600"/>
            <a:ext cx="93726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068300" y="6553200"/>
            <a:ext cx="101346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디자인 자체의 어려움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68300" y="7239000"/>
            <a:ext cx="101219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-아무것도 없는 백지 상태에서 무에서 유를 만드는 것의 어려움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-디자인 감각의 부재로 인한 힘듦.</a:t>
            </a: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2540000"/>
            <a:ext cx="212344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두 번째 어려움: UI 디자인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9200" y="6553200"/>
            <a:ext cx="76835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&gt;시스템 연결의 복잡성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59200" y="7239000"/>
            <a:ext cx="7670800" cy="219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팀 프로젝트에서는 다른 시스템과 연결 필수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여러 매니저와의 상호작용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연결로 인한 난이도 증가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전체 구조 고려 필요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4673600"/>
            <a:ext cx="21234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6743700"/>
            <a:ext cx="21234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861300" y="5702300"/>
            <a:ext cx="15748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4922500" y="5702300"/>
            <a:ext cx="15748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65300" y="54356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데이터를 UI와 인게임에서 사용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7300" y="54356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여러 매니저와 시스템 연결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63900" y="54356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전체 매니저 구조 수정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6100" y="7188200"/>
            <a:ext cx="6591300" cy="472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무기와 아이템 데이터를 ScriptableObject와 데이터 테이블 형태로 정리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UI 화면에서 무기 정보를 표시하기 위한 데이터 연결 작업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인게임 전투 시스템에서 무기 능력치를 불러오는 구조 구현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기존 UIManager와 새로운 데이터 시스템 간의 통신 필요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역할 변화: 무기와 아이템 기획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0800" y="7188200"/>
            <a:ext cx="6591300" cy="351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UIManager, GameManager 등 기존 매니저들과 데이터 연동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서비스 등록 구조를 통한 데이터 접근 방식 적용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각 시스템 간 데이터 흐름 설계 및 구현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매니저 간 의존성 관리의 어려움 발생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27400" y="7188200"/>
            <a:ext cx="6591300" cy="412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새로운 무기 시스템 추가로 기존 구조 변경 불가피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각 매니저의 역할 범위가 불명확한 상태에서 작업 진행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전체 프로젝트 구조에 영향을 미치는 수정 발생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구조적 문제의 시작점이 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0000" y="3009900"/>
            <a:ext cx="6604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데이터화 작업과 시스템 연결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2540000"/>
            <a:ext cx="212344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악순환 발생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54400" y="1231900"/>
            <a:ext cx="889000" cy="527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978900" y="1231900"/>
            <a:ext cx="889000" cy="527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490700" y="1231900"/>
            <a:ext cx="889000" cy="527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0027900" y="1231900"/>
            <a:ext cx="889000" cy="5270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65300" y="3594100"/>
            <a:ext cx="335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구조 이해 부족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9800" y="3594100"/>
            <a:ext cx="375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AI를 활용해 코드 작성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4300" y="3594100"/>
            <a:ext cx="40894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코드도 완전히 이해 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38800" y="3594100"/>
            <a:ext cx="3683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이해에 시간 소요 ↑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454400" y="3771900"/>
            <a:ext cx="889000" cy="527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978900" y="3771900"/>
            <a:ext cx="889000" cy="527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490700" y="3771900"/>
            <a:ext cx="889000" cy="527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0281900" y="3517900"/>
            <a:ext cx="889000" cy="5778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65300" y="6134100"/>
            <a:ext cx="335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선복붙 후이해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89800" y="6134100"/>
            <a:ext cx="4267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제안을 검토 없이 적용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500" y="6134100"/>
            <a:ext cx="50165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기능 추가 때마다 다시 AI 의존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57800" y="6121400"/>
            <a:ext cx="5664200" cy="584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454400" y="6337300"/>
            <a:ext cx="889000" cy="5270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765300" y="8686800"/>
            <a:ext cx="4267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시간 부족 심화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9118600" y="6337300"/>
            <a:ext cx="889000" cy="52705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429500" y="8686800"/>
            <a:ext cx="335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선복붙 (후이해??)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96400" y="10871200"/>
            <a:ext cx="62738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내 품을 떠나버린 코드들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2540000"/>
            <a:ext cx="212344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73200" y="12827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해결을 위한 시도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6600" y="2997200"/>
            <a:ext cx="3987800" cy="3987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22500" y="4394200"/>
            <a:ext cx="35560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초기 브랜치에서 재시작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6600" y="7543800"/>
            <a:ext cx="4102100" cy="351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문제 인식 후 초기 main 브랜치에서 새 브랜치 생성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복잡해진 구조를 정리하기 위한 시도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처음부터 다시 설계해보는 접근- 단계별 접근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54900" y="2997200"/>
            <a:ext cx="3987800" cy="3987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670800" y="4686300"/>
            <a:ext cx="35560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1D1D1D"/>
                </a:solidFill>
                <a:latin typeface="Pretendard SemiBold"/>
                <a:ea typeface="Pretendard SemiBold"/>
                <a:cs typeface="Pretendard SemiBold"/>
              </a:rPr>
              <a:t>매니저 역할 재설계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54900" y="7543800"/>
            <a:ext cx="4102100" cy="351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각 매니저가 담당해야 할 책임 고민과 재정의 ..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데이터 흐름을 명확하게 재설계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클래스 간 의존성 최소화 시도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15900" y="2997200"/>
            <a:ext cx="3987800" cy="3987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131800" y="4686300"/>
            <a:ext cx="35560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이식 작업 비용 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5900" y="7543800"/>
            <a:ext cx="4102100" cy="351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새로 설계한 구조를 진행된 프로젝트에 적용하기 어려움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이미 많은 기능이 구현된 상태</a:t>
            </a:r>
          </a:p>
          <a:p>
            <a:pPr algn="l" lvl="0">
              <a:lnSpc>
                <a:spcPct val="1411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 해결하기엔 작업량과 시간 부족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364200" y="2997200"/>
            <a:ext cx="3987800" cy="3987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8580100" y="4686300"/>
            <a:ext cx="35560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1D1D1D"/>
                </a:solidFill>
                <a:latin typeface="Pretendard SemiBold"/>
                <a:ea typeface="Pretendard SemiBold"/>
                <a:cs typeface="Pretendard SemiBold"/>
              </a:rPr>
              <a:t>팀장님의 긴급 봉합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94400" y="4521200"/>
            <a:ext cx="1460500" cy="93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68100" y="4521200"/>
            <a:ext cx="1460500" cy="939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03700" y="4584700"/>
            <a:ext cx="1460500" cy="93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2768600"/>
            <a:ext cx="21234400" cy="1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73200" y="1524000"/>
            <a:ext cx="21399500" cy="87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이후 느낀점과 교훈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0000" y="6121400"/>
            <a:ext cx="19304000" cy="364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AI 사용에 주의하자라는 단순한 결론 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무조건 구조 설계때 미리 필요한 클래스들의 역할 분배와 확장성이 좋다고 생각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하지만 이번에 필요 이상으로 크게 벌려놓으니까 구조 역할 분배에 난항 &gt; 구조 설계의 신중함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&gt;&gt;이번 시행착오는 실패가 아니라 팀 프로젝트에서 구조 이해, 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 점진적 구현과 AI 활용 방식의 중요성을 체감한 소중한 경험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500" y="5080000"/>
            <a:ext cx="20459700" cy="3556000"/>
          </a:xfrm>
          <a:prstGeom prst="rect">
            <a:avLst/>
          </a:prstGeom>
        </p:spPr>
        <p:txBody>
          <a:bodyPr anchor="t" rtlCol="false" lIns="0" tIns="25400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시연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500" y="5080000"/>
            <a:ext cx="20459700" cy="3556000"/>
          </a:xfrm>
          <a:prstGeom prst="rect">
            <a:avLst/>
          </a:prstGeom>
        </p:spPr>
        <p:txBody>
          <a:bodyPr anchor="t" rtlCol="false" lIns="0" tIns="25400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Q&amp;A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2674600"/>
            <a:ext cx="223520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-165100"/>
            <a:ext cx="24752300" cy="1016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2100" y="241300"/>
            <a:ext cx="336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DEVELROCKET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62600" y="254000"/>
            <a:ext cx="56388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r" lvl="0">
              <a:lnSpc>
                <a:spcPct val="103749"/>
              </a:lnSpc>
            </a:pPr>
            <a:r>
              <a:rPr lang="en-US" sz="2133" b="false" i="true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Unity Team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500" y="5080000"/>
            <a:ext cx="20459700" cy="3556000"/>
          </a:xfrm>
          <a:prstGeom prst="rect">
            <a:avLst/>
          </a:prstGeom>
        </p:spPr>
        <p:txBody>
          <a:bodyPr anchor="t" rtlCol="false" lIns="0" tIns="25400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